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mbria Bold" charset="1" panose="02040803050406030204"/>
      <p:regular r:id="rId21"/>
    </p:embeddedFont>
    <p:embeddedFont>
      <p:font typeface="Calibri (MS)" charset="1" panose="020F0502020204030204"/>
      <p:regular r:id="rId22"/>
    </p:embeddedFont>
    <p:embeddedFont>
      <p:font typeface="Cambria Italics" charset="1" panose="020405030504060A0204"/>
      <p:regular r:id="rId25"/>
    </p:embeddedFont>
    <p:embeddedFont>
      <p:font typeface="Calibri (MS) Italics" charset="1" panose="020F05020202040A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7.png" Type="http://schemas.openxmlformats.org/officeDocument/2006/relationships/image"/><Relationship Id="rId6" Target="../media/image9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8.png" Type="http://schemas.openxmlformats.org/officeDocument/2006/relationships/image"/><Relationship Id="rId6" Target="../media/image4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164592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84880" y="4663440"/>
            <a:ext cx="4114800" cy="4114800"/>
            <a:chOff x="0" y="0"/>
            <a:chExt cx="5486400" cy="548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2743200"/>
                  </a:moveTo>
                  <a:cubicBezTo>
                    <a:pt x="0" y="1228217"/>
                    <a:pt x="1228217" y="0"/>
                    <a:pt x="2743200" y="0"/>
                  </a:cubicBezTo>
                  <a:cubicBezTo>
                    <a:pt x="4258183" y="0"/>
                    <a:pt x="5486400" y="1228217"/>
                    <a:pt x="5486400" y="2743200"/>
                  </a:cubicBezTo>
                  <a:cubicBezTo>
                    <a:pt x="5486400" y="4258183"/>
                    <a:pt x="4258183" y="5486400"/>
                    <a:pt x="2743200" y="5486400"/>
                  </a:cubicBezTo>
                  <a:cubicBezTo>
                    <a:pt x="1228217" y="5486400"/>
                    <a:pt x="0" y="4258183"/>
                    <a:pt x="0" y="2743200"/>
                  </a:cubicBezTo>
                  <a:close/>
                </a:path>
              </a:pathLst>
            </a:custGeom>
            <a:solidFill>
              <a:srgbClr val="1C7293">
                <a:alpha val="3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960120"/>
            <a:ext cx="8229600" cy="685800"/>
            <a:chOff x="0" y="0"/>
            <a:chExt cx="109728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600">
                  <a:solidFill>
                    <a:srgbClr val="9FD3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MOOVIT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3154680"/>
            <a:ext cx="13030200" cy="3017520"/>
            <a:chOff x="0" y="0"/>
            <a:chExt cx="17373600" cy="4023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139" r="0" b="-3413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7373600" cy="3994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499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Horário confiável.</a:t>
              </a:r>
            </a:p>
            <a:p>
              <a:pPr algn="l">
                <a:lnSpc>
                  <a:spcPts val="7499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Sem interrupções.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6240780"/>
            <a:ext cx="11247120" cy="1371600"/>
            <a:chOff x="0" y="0"/>
            <a:chExt cx="1499616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961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1499616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C9D6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Uma proposta de melhoria de experiência para o app de transporte público, construída a partir da jornada real de quem depende do ônibus todos os dias.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234440" y="8002905"/>
            <a:ext cx="2830745" cy="0"/>
          </a:xfrm>
          <a:prstGeom prst="line">
            <a:avLst/>
          </a:prstGeom>
          <a:ln cap="rnd" w="28575">
            <a:solidFill>
              <a:srgbClr val="F2A54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234440" y="8298180"/>
            <a:ext cx="10972800" cy="1371600"/>
            <a:chOff x="0" y="0"/>
            <a:chExt cx="14630400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1463040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9FB3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Filipe Thiago Ribeiro Silva  ·  RA 22602209</a:t>
              </a:r>
            </a:p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9FB3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Luiz Fernando Cardos Timo  ·  RA 22610307</a:t>
              </a:r>
            </a:p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9FB3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Fellipe Cauã do Carmo  ·  RA 22550880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0972800" cy="960120"/>
            <a:chOff x="0" y="0"/>
            <a:chExt cx="14630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problema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057400"/>
            <a:ext cx="18283428" cy="27432"/>
            <a:chOff x="0" y="0"/>
            <a:chExt cx="24377904" cy="365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77904" cy="36576"/>
            </a:xfrm>
            <a:custGeom>
              <a:avLst/>
              <a:gdLst/>
              <a:ahLst/>
              <a:cxnLst/>
              <a:rect r="r" b="b" t="t" l="l"/>
              <a:pathLst>
                <a:path h="3657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CFE8F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0120" y="2606040"/>
            <a:ext cx="8778240" cy="6446520"/>
            <a:chOff x="0" y="0"/>
            <a:chExt cx="11704320" cy="859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04320" cy="8595361"/>
            </a:xfrm>
            <a:custGeom>
              <a:avLst/>
              <a:gdLst/>
              <a:ahLst/>
              <a:cxnLst/>
              <a:rect r="r" b="b" t="t" l="l"/>
              <a:pathLst>
                <a:path h="8595361" w="11704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484864" y="0"/>
                  </a:lnTo>
                  <a:cubicBezTo>
                    <a:pt x="11606022" y="0"/>
                    <a:pt x="11704320" y="98298"/>
                    <a:pt x="11704320" y="219456"/>
                  </a:cubicBezTo>
                  <a:lnTo>
                    <a:pt x="11704320" y="8375904"/>
                  </a:lnTo>
                  <a:cubicBezTo>
                    <a:pt x="11704320" y="8497062"/>
                    <a:pt x="11606022" y="8595361"/>
                    <a:pt x="11484864" y="8595361"/>
                  </a:cubicBezTo>
                  <a:lnTo>
                    <a:pt x="219456" y="8595361"/>
                  </a:lnTo>
                  <a:cubicBezTo>
                    <a:pt x="98298" y="8595360"/>
                    <a:pt x="0" y="8497062"/>
                    <a:pt x="0" y="8375904"/>
                  </a:cubicBezTo>
                  <a:close/>
                </a:path>
              </a:pathLst>
            </a:custGeom>
            <a:solidFill>
              <a:srgbClr val="F7FAF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08760" y="3086100"/>
            <a:ext cx="1028700" cy="1028700"/>
            <a:chOff x="0" y="0"/>
            <a:chExt cx="137160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21917" y="3199257"/>
            <a:ext cx="802386" cy="802386"/>
            <a:chOff x="0" y="0"/>
            <a:chExt cx="1069848" cy="1069848"/>
          </a:xfrm>
        </p:grpSpPr>
        <p:sp>
          <p:nvSpPr>
            <p:cNvPr name="Freeform 12" id="12" descr="clock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880360" y="3086100"/>
            <a:ext cx="6446520" cy="1097280"/>
            <a:chOff x="0" y="0"/>
            <a:chExt cx="859536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95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859536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8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horário exibido no app não é o horário real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08760" y="4389120"/>
            <a:ext cx="7680960" cy="1508760"/>
            <a:chOff x="0" y="0"/>
            <a:chExt cx="10241280" cy="2011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024128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0"/>
                </a:lnSpc>
              </a:pPr>
              <a:r>
                <a:rPr lang="en-US" sz="202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Os horários de chegada e saída dos ônibus mostrados no aplicativo frequentemente não correspondem ao que acontece na rua.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8520">
            <a:off x="1499225" y="6098858"/>
            <a:ext cx="7700029" cy="0"/>
          </a:xfrm>
          <a:prstGeom prst="line">
            <a:avLst/>
          </a:prstGeom>
          <a:ln cap="rnd" w="9525">
            <a:solidFill>
              <a:srgbClr val="CFE8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508760" y="6446520"/>
            <a:ext cx="1028700" cy="1028700"/>
            <a:chOff x="0" y="0"/>
            <a:chExt cx="137160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21917" y="6559677"/>
            <a:ext cx="802386" cy="802386"/>
            <a:chOff x="0" y="0"/>
            <a:chExt cx="1069848" cy="1069848"/>
          </a:xfrm>
        </p:grpSpPr>
        <p:sp>
          <p:nvSpPr>
            <p:cNvPr name="Freeform 23" id="23" descr="slash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880360" y="6446520"/>
            <a:ext cx="6446520" cy="1097280"/>
            <a:chOff x="0" y="0"/>
            <a:chExt cx="859536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95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859536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8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Anúncios atrapalham o momento certo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08760" y="7749540"/>
            <a:ext cx="7680960" cy="1234440"/>
            <a:chOff x="0" y="0"/>
            <a:chExt cx="10241280" cy="1645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12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024128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0"/>
                </a:lnSpc>
              </a:pPr>
              <a:r>
                <a:rPr lang="en-US" sz="202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Uma grande quantidade de anúncios interfere no uso do app justamente quando a informação precisa ser rápida.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0" y="2606040"/>
            <a:ext cx="7063740" cy="6446520"/>
            <a:chOff x="0" y="0"/>
            <a:chExt cx="9418320" cy="859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18320" cy="8595361"/>
            </a:xfrm>
            <a:custGeom>
              <a:avLst/>
              <a:gdLst/>
              <a:ahLst/>
              <a:cxnLst/>
              <a:rect r="r" b="b" t="t" l="l"/>
              <a:pathLst>
                <a:path h="8595361" w="9418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198864" y="0"/>
                  </a:lnTo>
                  <a:cubicBezTo>
                    <a:pt x="9320022" y="0"/>
                    <a:pt x="9418320" y="98298"/>
                    <a:pt x="9418320" y="219456"/>
                  </a:cubicBezTo>
                  <a:lnTo>
                    <a:pt x="9418320" y="8375904"/>
                  </a:lnTo>
                  <a:cubicBezTo>
                    <a:pt x="9418320" y="8497062"/>
                    <a:pt x="9320022" y="8595361"/>
                    <a:pt x="9198864" y="8595361"/>
                  </a:cubicBezTo>
                  <a:lnTo>
                    <a:pt x="219456" y="8595361"/>
                  </a:lnTo>
                  <a:cubicBezTo>
                    <a:pt x="98298" y="8595360"/>
                    <a:pt x="0" y="8497062"/>
                    <a:pt x="0" y="8375904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835640" y="3086100"/>
            <a:ext cx="6035040" cy="548640"/>
            <a:chOff x="0" y="0"/>
            <a:chExt cx="80467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046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9FD3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resultado?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835640" y="3703320"/>
            <a:ext cx="6035040" cy="2331720"/>
            <a:chOff x="0" y="0"/>
            <a:chExt cx="8046720" cy="3108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467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" r="0" b="-43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47625"/>
              <a:ext cx="8046720" cy="3061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Perder o</a:t>
              </a:r>
            </a:p>
            <a:p>
              <a:pPr algn="l">
                <a:lnSpc>
                  <a:spcPts val="66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ônibus.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835640" y="6240780"/>
            <a:ext cx="6035040" cy="2606040"/>
            <a:chOff x="0" y="0"/>
            <a:chExt cx="8046720" cy="3474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0467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03" t="0" r="-54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8046720" cy="3550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0"/>
                </a:lnSpc>
              </a:pPr>
              <a:r>
                <a:rPr lang="en-US" sz="2025">
                  <a:solidFill>
                    <a:srgbClr val="C9D6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usuário confia no app, chega ao ponto e descobre que o transporte já passou — ou perde tempo navegando entre anúncios para checar o status.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Etapa 4 — Ideação  ·  Proposta de melhorias para o Moovit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0972800" cy="960120"/>
            <a:chOff x="0" y="0"/>
            <a:chExt cx="14630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Quem sente essa dor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331720"/>
            <a:ext cx="7680960" cy="6858000"/>
            <a:chOff x="0" y="0"/>
            <a:chExt cx="10241280" cy="914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241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021824" y="0"/>
                  </a:lnTo>
                  <a:cubicBezTo>
                    <a:pt x="10142982" y="0"/>
                    <a:pt x="10241280" y="98298"/>
                    <a:pt x="10241280" y="219456"/>
                  </a:cubicBezTo>
                  <a:lnTo>
                    <a:pt x="10241280" y="8924544"/>
                  </a:lnTo>
                  <a:cubicBezTo>
                    <a:pt x="10241280" y="9045701"/>
                    <a:pt x="10142982" y="9144000"/>
                    <a:pt x="10021824" y="9144000"/>
                  </a:cubicBezTo>
                  <a:lnTo>
                    <a:pt x="219456" y="9144000"/>
                  </a:lnTo>
                  <a:cubicBezTo>
                    <a:pt x="98298" y="9144000"/>
                    <a:pt x="0" y="9045702"/>
                    <a:pt x="0" y="89245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08760" y="2811780"/>
            <a:ext cx="1097280" cy="1097280"/>
            <a:chOff x="0" y="0"/>
            <a:chExt cx="146304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29461" y="2932481"/>
            <a:ext cx="855878" cy="855878"/>
            <a:chOff x="0" y="0"/>
            <a:chExt cx="1141171" cy="1141171"/>
          </a:xfrm>
        </p:grpSpPr>
        <p:sp>
          <p:nvSpPr>
            <p:cNvPr name="Freeform 10" id="10" descr="users.png"/>
            <p:cNvSpPr/>
            <p:nvPr/>
          </p:nvSpPr>
          <p:spPr>
            <a:xfrm flipH="false" flipV="false" rot="0">
              <a:off x="0" y="0"/>
              <a:ext cx="1141222" cy="1141222"/>
            </a:xfrm>
            <a:custGeom>
              <a:avLst/>
              <a:gdLst/>
              <a:ahLst/>
              <a:cxnLst/>
              <a:rect r="r" b="b" t="t" l="l"/>
              <a:pathLst>
                <a:path h="1141222" w="1141222">
                  <a:moveTo>
                    <a:pt x="0" y="0"/>
                  </a:moveTo>
                  <a:lnTo>
                    <a:pt x="1141222" y="0"/>
                  </a:lnTo>
                  <a:lnTo>
                    <a:pt x="1141222" y="1141222"/>
                  </a:lnTo>
                  <a:lnTo>
                    <a:pt x="0" y="1141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08760" y="4114800"/>
            <a:ext cx="6583680" cy="822960"/>
            <a:chOff x="0" y="0"/>
            <a:chExt cx="8778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78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7782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Estudantes e trabalhadores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8760" y="4937760"/>
            <a:ext cx="6583680" cy="1508760"/>
            <a:chOff x="0" y="0"/>
            <a:chExt cx="8778240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782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77824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 dependem do transporte público para chegar a compromissos com horário fixo — aula, trabalho, entrevistas.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14880">
            <a:off x="1494444" y="6642735"/>
            <a:ext cx="6612312" cy="0"/>
          </a:xfrm>
          <a:prstGeom prst="line">
            <a:avLst/>
          </a:prstGeom>
          <a:ln cap="rnd" w="19050">
            <a:solidFill>
              <a:srgbClr val="CFE8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508760" y="6926580"/>
            <a:ext cx="6583680" cy="480060"/>
            <a:chOff x="0" y="0"/>
            <a:chExt cx="87782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7782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4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QUANDO A DOR ACONTECE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08760" y="7406640"/>
            <a:ext cx="6583680" cy="1508760"/>
            <a:chOff x="0" y="0"/>
            <a:chExt cx="8778240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782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877824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 pesquisa de disponibilidade do transporte, antes de compromissos com horário marcado.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21140" y="2331720"/>
            <a:ext cx="8229600" cy="6858000"/>
            <a:chOff x="0" y="0"/>
            <a:chExt cx="10972800" cy="914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9728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753344" y="0"/>
                  </a:lnTo>
                  <a:cubicBezTo>
                    <a:pt x="10874502" y="0"/>
                    <a:pt x="10972800" y="98298"/>
                    <a:pt x="10972800" y="219456"/>
                  </a:cubicBezTo>
                  <a:lnTo>
                    <a:pt x="10972800" y="8924544"/>
                  </a:lnTo>
                  <a:cubicBezTo>
                    <a:pt x="10972800" y="9045701"/>
                    <a:pt x="10874502" y="9144000"/>
                    <a:pt x="10753344" y="9144000"/>
                  </a:cubicBezTo>
                  <a:lnTo>
                    <a:pt x="219456" y="9144000"/>
                  </a:lnTo>
                  <a:cubicBezTo>
                    <a:pt x="98298" y="9144000"/>
                    <a:pt x="0" y="9045702"/>
                    <a:pt x="0" y="8924544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69780" y="2811780"/>
            <a:ext cx="1097280" cy="1097280"/>
            <a:chOff x="0" y="0"/>
            <a:chExt cx="146304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790481" y="2932481"/>
            <a:ext cx="855878" cy="855878"/>
            <a:chOff x="0" y="0"/>
            <a:chExt cx="1141171" cy="1141171"/>
          </a:xfrm>
        </p:grpSpPr>
        <p:sp>
          <p:nvSpPr>
            <p:cNvPr name="Freeform 29" id="29" descr="target.png"/>
            <p:cNvSpPr/>
            <p:nvPr/>
          </p:nvSpPr>
          <p:spPr>
            <a:xfrm flipH="false" flipV="false" rot="0">
              <a:off x="0" y="0"/>
              <a:ext cx="1141222" cy="1141222"/>
            </a:xfrm>
            <a:custGeom>
              <a:avLst/>
              <a:gdLst/>
              <a:ahLst/>
              <a:cxnLst/>
              <a:rect r="r" b="b" t="t" l="l"/>
              <a:pathLst>
                <a:path h="1141222" w="1141222">
                  <a:moveTo>
                    <a:pt x="0" y="0"/>
                  </a:moveTo>
                  <a:lnTo>
                    <a:pt x="1141222" y="0"/>
                  </a:lnTo>
                  <a:lnTo>
                    <a:pt x="1141222" y="1141222"/>
                  </a:lnTo>
                  <a:lnTo>
                    <a:pt x="0" y="1141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69780" y="4114800"/>
            <a:ext cx="7132320" cy="685800"/>
            <a:chOff x="0" y="0"/>
            <a:chExt cx="950976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09760" cy="914400"/>
            </a:xfrm>
            <a:custGeom>
              <a:avLst/>
              <a:gdLst/>
              <a:ahLst/>
              <a:cxnLst/>
              <a:rect r="r" b="b" t="t" l="l"/>
              <a:pathLst>
                <a:path h="9144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5097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9FD3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necessidade principal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69780" y="4663440"/>
            <a:ext cx="7132320" cy="1371600"/>
            <a:chOff x="0" y="0"/>
            <a:chExt cx="9509760" cy="1828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9509760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5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Confiar na informação de horário.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69780" y="6172200"/>
            <a:ext cx="7132320" cy="1920240"/>
            <a:chOff x="0" y="0"/>
            <a:chExt cx="9509760" cy="25603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097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9509760" cy="2646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100">
                  <a:solidFill>
                    <a:srgbClr val="DCEA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 essa confiança, o usuário perde tempo esperando no ponto errado — ou perde o transporte esperando confirmação dentro do app.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9180">
            <a:off x="9660245" y="8224838"/>
            <a:ext cx="7151399" cy="0"/>
          </a:xfrm>
          <a:prstGeom prst="line">
            <a:avLst/>
          </a:prstGeom>
          <a:ln cap="rnd" w="9525">
            <a:solidFill>
              <a:srgbClr val="3E7C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9779508" y="8092440"/>
            <a:ext cx="7132320" cy="1234440"/>
            <a:chOff x="0" y="0"/>
            <a:chExt cx="9509760" cy="1645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097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950976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1950" i="true">
                  <a:solidFill>
                    <a:srgbClr val="9FD3E8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“Como poderíamos ajudar estudantes e trabalhadores a confiar no horário real, sem interferência de anúncios?”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Etapa 4 — Ideação  ·  Proposta de melhorias para o Moovit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2344400" cy="960120"/>
            <a:chOff x="0" y="0"/>
            <a:chExt cx="164592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Três caminhos possíveis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645920"/>
            <a:ext cx="14401800" cy="685800"/>
            <a:chOff x="0" y="0"/>
            <a:chExt cx="19202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202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Ideias geradas a partir da mesma dor: falta de confiança no horário e interferência de anúncios.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743200"/>
            <a:ext cx="5280660" cy="6240780"/>
            <a:chOff x="0" y="0"/>
            <a:chExt cx="7040880" cy="832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8321040"/>
            </a:xfrm>
            <a:custGeom>
              <a:avLst/>
              <a:gdLst/>
              <a:ahLst/>
              <a:cxnLst/>
              <a:rect r="r" b="b" t="t" l="l"/>
              <a:pathLst>
                <a:path h="832104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8101584"/>
                  </a:lnTo>
                  <a:cubicBezTo>
                    <a:pt x="7040880" y="8222742"/>
                    <a:pt x="6942582" y="8321040"/>
                    <a:pt x="6821424" y="8321040"/>
                  </a:cubicBezTo>
                  <a:lnTo>
                    <a:pt x="219456" y="8321040"/>
                  </a:lnTo>
                  <a:cubicBezTo>
                    <a:pt x="98298" y="8321040"/>
                    <a:pt x="0" y="8222742"/>
                    <a:pt x="0" y="8101584"/>
                  </a:cubicBezTo>
                  <a:close/>
                </a:path>
              </a:pathLst>
            </a:custGeom>
            <a:solidFill>
              <a:srgbClr val="F7FAF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40180" y="3223260"/>
            <a:ext cx="1165860" cy="1165860"/>
            <a:chOff x="0" y="0"/>
            <a:chExt cx="155448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425" y="3351505"/>
            <a:ext cx="909371" cy="909371"/>
            <a:chOff x="0" y="0"/>
            <a:chExt cx="1212494" cy="1212494"/>
          </a:xfrm>
        </p:grpSpPr>
        <p:sp>
          <p:nvSpPr>
            <p:cNvPr name="Freeform 13" id="13" descr="mappin.png"/>
            <p:cNvSpPr/>
            <p:nvPr/>
          </p:nvSpPr>
          <p:spPr>
            <a:xfrm flipH="false" flipV="false" rot="0">
              <a:off x="0" y="0"/>
              <a:ext cx="1212469" cy="1212469"/>
            </a:xfrm>
            <a:custGeom>
              <a:avLst/>
              <a:gdLst/>
              <a:ahLst/>
              <a:cxnLst/>
              <a:rect r="r" b="b" t="t" l="l"/>
              <a:pathLst>
                <a:path h="1212469" w="1212469">
                  <a:moveTo>
                    <a:pt x="0" y="0"/>
                  </a:moveTo>
                  <a:lnTo>
                    <a:pt x="1212469" y="0"/>
                  </a:lnTo>
                  <a:lnTo>
                    <a:pt x="1212469" y="1212469"/>
                  </a:lnTo>
                  <a:lnTo>
                    <a:pt x="0" y="121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0180" y="4663440"/>
            <a:ext cx="4320540" cy="1234440"/>
            <a:chOff x="0" y="0"/>
            <a:chExt cx="5760720" cy="164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60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576072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0"/>
                </a:lnSpc>
              </a:pPr>
              <a:r>
                <a:rPr lang="en-US" sz="30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Rastreio em</a:t>
              </a:r>
            </a:p>
            <a:p>
              <a:pPr algn="l">
                <a:lnSpc>
                  <a:spcPts val="3300"/>
                </a:lnSpc>
              </a:pPr>
              <a:r>
                <a:rPr lang="en-US" sz="30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tempo real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40180" y="5966460"/>
            <a:ext cx="4320540" cy="1645920"/>
            <a:chOff x="0" y="0"/>
            <a:chExt cx="576072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6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5760720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9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ao vivo com GPS, gratuito, mostrando onde o transporte está agora.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15120">
            <a:off x="1430636" y="7607618"/>
            <a:ext cx="4339628" cy="0"/>
          </a:xfrm>
          <a:prstGeom prst="line">
            <a:avLst/>
          </a:prstGeom>
          <a:ln cap="rnd" w="9525">
            <a:solidFill>
              <a:srgbClr val="CFE8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40180" y="7790688"/>
            <a:ext cx="4320540" cy="411480"/>
            <a:chOff x="0" y="0"/>
            <a:chExt cx="576072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60720" cy="548640"/>
            </a:xfrm>
            <a:custGeom>
              <a:avLst/>
              <a:gdLst/>
              <a:ahLst/>
              <a:cxnLst/>
              <a:rect r="r" b="b" t="t" l="l"/>
              <a:pathLst>
                <a:path h="54864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760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LIMITAÇÃO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40180" y="8202168"/>
            <a:ext cx="4320540" cy="754380"/>
            <a:chOff x="0" y="0"/>
            <a:chExt cx="576072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60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596" r="0" b="-6159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7607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 i="true">
                  <a:solidFill>
                    <a:srgbClr val="5B6B8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Depende de boa conexão com a internet.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20840" y="2743200"/>
            <a:ext cx="5280660" cy="6240780"/>
            <a:chOff x="0" y="0"/>
            <a:chExt cx="7040880" cy="832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40880" cy="8321040"/>
            </a:xfrm>
            <a:custGeom>
              <a:avLst/>
              <a:gdLst/>
              <a:ahLst/>
              <a:cxnLst/>
              <a:rect r="r" b="b" t="t" l="l"/>
              <a:pathLst>
                <a:path h="832104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8101584"/>
                  </a:lnTo>
                  <a:cubicBezTo>
                    <a:pt x="7040880" y="8222742"/>
                    <a:pt x="6942582" y="8321040"/>
                    <a:pt x="6821424" y="8321040"/>
                  </a:cubicBezTo>
                  <a:lnTo>
                    <a:pt x="219456" y="8321040"/>
                  </a:lnTo>
                  <a:cubicBezTo>
                    <a:pt x="98298" y="8321040"/>
                    <a:pt x="0" y="8222742"/>
                    <a:pt x="0" y="8101584"/>
                  </a:cubicBezTo>
                  <a:close/>
                </a:path>
              </a:pathLst>
            </a:custGeom>
            <a:solidFill>
              <a:srgbClr val="F7FAF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200900" y="3223260"/>
            <a:ext cx="1165860" cy="1165860"/>
            <a:chOff x="0" y="0"/>
            <a:chExt cx="155448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329145" y="3351505"/>
            <a:ext cx="909371" cy="909371"/>
            <a:chOff x="0" y="0"/>
            <a:chExt cx="1212494" cy="1212494"/>
          </a:xfrm>
        </p:grpSpPr>
        <p:sp>
          <p:nvSpPr>
            <p:cNvPr name="Freeform 32" id="32" descr="message.png"/>
            <p:cNvSpPr/>
            <p:nvPr/>
          </p:nvSpPr>
          <p:spPr>
            <a:xfrm flipH="false" flipV="false" rot="0">
              <a:off x="0" y="0"/>
              <a:ext cx="1212469" cy="1212469"/>
            </a:xfrm>
            <a:custGeom>
              <a:avLst/>
              <a:gdLst/>
              <a:ahLst/>
              <a:cxnLst/>
              <a:rect r="r" b="b" t="t" l="l"/>
              <a:pathLst>
                <a:path h="1212469" w="1212469">
                  <a:moveTo>
                    <a:pt x="0" y="0"/>
                  </a:moveTo>
                  <a:lnTo>
                    <a:pt x="1212469" y="0"/>
                  </a:lnTo>
                  <a:lnTo>
                    <a:pt x="1212469" y="1212469"/>
                  </a:lnTo>
                  <a:lnTo>
                    <a:pt x="0" y="121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200900" y="4663440"/>
            <a:ext cx="4320540" cy="1234440"/>
            <a:chOff x="0" y="0"/>
            <a:chExt cx="5760720" cy="1645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60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576072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0"/>
                </a:lnSpc>
              </a:pPr>
              <a:r>
                <a:rPr lang="en-US" sz="30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Reporte</a:t>
              </a:r>
            </a:p>
            <a:p>
              <a:pPr algn="l">
                <a:lnSpc>
                  <a:spcPts val="3300"/>
                </a:lnSpc>
              </a:pPr>
              <a:r>
                <a:rPr lang="en-US" sz="30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colaborativo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200900" y="5966460"/>
            <a:ext cx="4320540" cy="1645920"/>
            <a:chOff x="0" y="0"/>
            <a:chExt cx="5760720" cy="21945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6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5760720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9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Usuários confirmam, em coletivo, se o transporte está no horário.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15120">
            <a:off x="7191356" y="7607618"/>
            <a:ext cx="4339628" cy="0"/>
          </a:xfrm>
          <a:prstGeom prst="line">
            <a:avLst/>
          </a:prstGeom>
          <a:ln cap="rnd" w="9525">
            <a:solidFill>
              <a:srgbClr val="CFE8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7200900" y="7790688"/>
            <a:ext cx="4320540" cy="411480"/>
            <a:chOff x="0" y="0"/>
            <a:chExt cx="576072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60720" cy="548640"/>
            </a:xfrm>
            <a:custGeom>
              <a:avLst/>
              <a:gdLst/>
              <a:ahLst/>
              <a:cxnLst/>
              <a:rect r="r" b="b" t="t" l="l"/>
              <a:pathLst>
                <a:path h="54864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5760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LIMITAÇÃO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200900" y="8202168"/>
            <a:ext cx="4320540" cy="754380"/>
            <a:chOff x="0" y="0"/>
            <a:chExt cx="576072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760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596" r="0" b="-6159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7607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 i="true">
                  <a:solidFill>
                    <a:srgbClr val="5B6B8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Risco de reportes incorretos.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481560" y="2743200"/>
            <a:ext cx="5280660" cy="6240780"/>
            <a:chOff x="0" y="0"/>
            <a:chExt cx="7040880" cy="8321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040880" cy="8321040"/>
            </a:xfrm>
            <a:custGeom>
              <a:avLst/>
              <a:gdLst/>
              <a:ahLst/>
              <a:cxnLst/>
              <a:rect r="r" b="b" t="t" l="l"/>
              <a:pathLst>
                <a:path h="8321040" w="7040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821424" y="0"/>
                  </a:lnTo>
                  <a:cubicBezTo>
                    <a:pt x="6942582" y="0"/>
                    <a:pt x="7040880" y="98298"/>
                    <a:pt x="7040880" y="219456"/>
                  </a:cubicBezTo>
                  <a:lnTo>
                    <a:pt x="7040880" y="8101584"/>
                  </a:lnTo>
                  <a:cubicBezTo>
                    <a:pt x="7040880" y="8222742"/>
                    <a:pt x="6942582" y="8321040"/>
                    <a:pt x="6821424" y="8321040"/>
                  </a:cubicBezTo>
                  <a:lnTo>
                    <a:pt x="219456" y="8321040"/>
                  </a:lnTo>
                  <a:cubicBezTo>
                    <a:pt x="98298" y="8321040"/>
                    <a:pt x="0" y="8222742"/>
                    <a:pt x="0" y="8101584"/>
                  </a:cubicBezTo>
                  <a:close/>
                </a:path>
              </a:pathLst>
            </a:custGeom>
            <a:solidFill>
              <a:srgbClr val="F7FAF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961620" y="3223260"/>
            <a:ext cx="1165860" cy="1165860"/>
            <a:chOff x="0" y="0"/>
            <a:chExt cx="1554480" cy="15544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089865" y="3351505"/>
            <a:ext cx="909371" cy="909371"/>
            <a:chOff x="0" y="0"/>
            <a:chExt cx="1212494" cy="1212494"/>
          </a:xfrm>
        </p:grpSpPr>
        <p:sp>
          <p:nvSpPr>
            <p:cNvPr name="Freeform 51" id="51" descr="zap.png"/>
            <p:cNvSpPr/>
            <p:nvPr/>
          </p:nvSpPr>
          <p:spPr>
            <a:xfrm flipH="false" flipV="false" rot="0">
              <a:off x="0" y="0"/>
              <a:ext cx="1212469" cy="1212469"/>
            </a:xfrm>
            <a:custGeom>
              <a:avLst/>
              <a:gdLst/>
              <a:ahLst/>
              <a:cxnLst/>
              <a:rect r="r" b="b" t="t" l="l"/>
              <a:pathLst>
                <a:path h="1212469" w="1212469">
                  <a:moveTo>
                    <a:pt x="0" y="0"/>
                  </a:moveTo>
                  <a:lnTo>
                    <a:pt x="1212469" y="0"/>
                  </a:lnTo>
                  <a:lnTo>
                    <a:pt x="1212469" y="1212469"/>
                  </a:lnTo>
                  <a:lnTo>
                    <a:pt x="0" y="121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961620" y="4663440"/>
            <a:ext cx="4320540" cy="1234440"/>
            <a:chOff x="0" y="0"/>
            <a:chExt cx="5760720" cy="16459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60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576072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0"/>
                </a:lnSpc>
              </a:pPr>
              <a:r>
                <a:rPr lang="en-US" sz="30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Consulta</a:t>
              </a:r>
            </a:p>
            <a:p>
              <a:pPr algn="l">
                <a:lnSpc>
                  <a:spcPts val="3300"/>
                </a:lnSpc>
              </a:pPr>
              <a:r>
                <a:rPr lang="en-US" sz="30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rápida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961620" y="5966460"/>
            <a:ext cx="4320540" cy="1645920"/>
            <a:chOff x="0" y="0"/>
            <a:chExt cx="5760720" cy="2194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760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85725"/>
              <a:ext cx="5760720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95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Modo simplificado que prioriza a linha buscada, sem passar por anúncios.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rot="15120">
            <a:off x="12952076" y="7607618"/>
            <a:ext cx="4339628" cy="0"/>
          </a:xfrm>
          <a:prstGeom prst="line">
            <a:avLst/>
          </a:prstGeom>
          <a:ln cap="rnd" w="9525">
            <a:solidFill>
              <a:srgbClr val="CFE8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12961620" y="7790688"/>
            <a:ext cx="4320540" cy="411480"/>
            <a:chOff x="0" y="0"/>
            <a:chExt cx="576072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60720" cy="548640"/>
            </a:xfrm>
            <a:custGeom>
              <a:avLst/>
              <a:gdLst/>
              <a:ahLst/>
              <a:cxnLst/>
              <a:rect r="r" b="b" t="t" l="l"/>
              <a:pathLst>
                <a:path h="54864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5760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LIMITAÇÃO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961620" y="8202168"/>
            <a:ext cx="4320540" cy="754380"/>
            <a:chOff x="0" y="0"/>
            <a:chExt cx="576072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760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596" r="0" b="-6159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7607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00" i="true">
                  <a:solidFill>
                    <a:srgbClr val="5B6B8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Exige mudança no modelo de monetização.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Etapa 4 — Ideação  ·  Proposta de melhorias para o Moovit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6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2344400" cy="960120"/>
            <a:chOff x="0" y="0"/>
            <a:chExt cx="164592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Comparando as ideias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60120" y="2331720"/>
          <a:ext cx="16268700" cy="6858000"/>
        </p:xfrm>
        <a:graphic>
          <a:graphicData uri="http://schemas.openxmlformats.org/drawingml/2006/table">
            <a:tbl>
              <a:tblPr/>
              <a:tblGrid>
                <a:gridCol w="4644159"/>
                <a:gridCol w="3870321"/>
                <a:gridCol w="3870321"/>
                <a:gridCol w="3883898"/>
              </a:tblGrid>
              <a:tr h="1371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Critério: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Rastreio em tempo real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Reporte colaborativo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Consulta rápida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Resolve a dor do horário?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Sim, via GPS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Sim, via comunidade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Parcial — acesso mais rápido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Reduz interferência de anúncios?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Não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Não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Complexidade de implementação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Baixa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Média (modelo de negócio)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21295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Depende de terceiros / infra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Conexão de internet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Engajamento dos usuários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3415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Monetização do app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Etapa 4 — Ideação  ·  Proposta de melhorias para o Moovit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61722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65A82">
                <a:alpha val="1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1234440"/>
            <a:ext cx="8229600" cy="548640"/>
            <a:chOff x="0" y="0"/>
            <a:chExt cx="109728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9FD3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SOLUÇÃO ESCOLHIDA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1920240"/>
            <a:ext cx="11384280" cy="2331720"/>
            <a:chOff x="0" y="0"/>
            <a:chExt cx="15179040" cy="3108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179039" cy="3108960"/>
            </a:xfrm>
            <a:custGeom>
              <a:avLst/>
              <a:gdLst/>
              <a:ahLst/>
              <a:cxnLst/>
              <a:rect r="r" b="b" t="t" l="l"/>
              <a:pathLst>
                <a:path h="310896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32" r="0" b="-4513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5179040" cy="3089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Reporte colaborativo + consulta limpa, sem anúncios no caminho.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4440" y="4320540"/>
            <a:ext cx="10424160" cy="1508760"/>
            <a:chOff x="0" y="0"/>
            <a:chExt cx="13898880" cy="2011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98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1389888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C9D6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Usuários reportam o horário real do transporte, e essa informação é exibida de forma limpa e imediata — antes de qualquer anúncio.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6103620"/>
            <a:ext cx="7612380" cy="2331720"/>
            <a:chOff x="0" y="0"/>
            <a:chExt cx="10149840" cy="3108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498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1498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966960" y="0"/>
                  </a:lnTo>
                  <a:cubicBezTo>
                    <a:pt x="10067925" y="0"/>
                    <a:pt x="10149840" y="81915"/>
                    <a:pt x="10149840" y="182880"/>
                  </a:cubicBezTo>
                  <a:lnTo>
                    <a:pt x="10149840" y="2926080"/>
                  </a:lnTo>
                  <a:cubicBezTo>
                    <a:pt x="10149840" y="3027045"/>
                    <a:pt x="10067925" y="3108960"/>
                    <a:pt x="9966960" y="3108960"/>
                  </a:cubicBezTo>
                  <a:lnTo>
                    <a:pt x="182880" y="3108960"/>
                  </a:lnTo>
                  <a:cubicBezTo>
                    <a:pt x="81915" y="3108960"/>
                    <a:pt x="0" y="3027045"/>
                    <a:pt x="0" y="2926080"/>
                  </a:cubicBezTo>
                  <a:close/>
                </a:path>
              </a:pathLst>
            </a:custGeom>
            <a:solidFill>
              <a:srgbClr val="1B235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14500" y="6542532"/>
            <a:ext cx="891540" cy="891540"/>
            <a:chOff x="0" y="0"/>
            <a:chExt cx="1188720" cy="1188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12569" y="6640601"/>
            <a:ext cx="695401" cy="695401"/>
            <a:chOff x="0" y="0"/>
            <a:chExt cx="927202" cy="927202"/>
          </a:xfrm>
        </p:grpSpPr>
        <p:sp>
          <p:nvSpPr>
            <p:cNvPr name="Freeform 18" id="18" descr="message.png"/>
            <p:cNvSpPr/>
            <p:nvPr/>
          </p:nvSpPr>
          <p:spPr>
            <a:xfrm flipH="false" flipV="false" rot="0">
              <a:off x="0" y="0"/>
              <a:ext cx="927227" cy="927227"/>
            </a:xfrm>
            <a:custGeom>
              <a:avLst/>
              <a:gdLst/>
              <a:ahLst/>
              <a:cxnLst/>
              <a:rect r="r" b="b" t="t" l="l"/>
              <a:pathLst>
                <a:path h="927227" w="927227">
                  <a:moveTo>
                    <a:pt x="0" y="0"/>
                  </a:moveTo>
                  <a:lnTo>
                    <a:pt x="927227" y="0"/>
                  </a:lnTo>
                  <a:lnTo>
                    <a:pt x="927227" y="927227"/>
                  </a:lnTo>
                  <a:lnTo>
                    <a:pt x="0" y="9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880360" y="6515100"/>
            <a:ext cx="5760720" cy="548640"/>
            <a:chOff x="0" y="0"/>
            <a:chExt cx="768096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7680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Reporte da comunidade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80360" y="7091172"/>
            <a:ext cx="5760720" cy="1234440"/>
            <a:chOff x="0" y="0"/>
            <a:chExt cx="768096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0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768096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800">
                  <a:solidFill>
                    <a:srgbClr val="AAB8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Ideia 2 traz a confirmação coletiva do horário real.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21140" y="6103620"/>
            <a:ext cx="7612380" cy="2331720"/>
            <a:chOff x="0" y="0"/>
            <a:chExt cx="10149840" cy="3108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498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1498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966960" y="0"/>
                  </a:lnTo>
                  <a:cubicBezTo>
                    <a:pt x="10067925" y="0"/>
                    <a:pt x="10149840" y="81915"/>
                    <a:pt x="10149840" y="182880"/>
                  </a:cubicBezTo>
                  <a:lnTo>
                    <a:pt x="10149840" y="2926080"/>
                  </a:lnTo>
                  <a:cubicBezTo>
                    <a:pt x="10149840" y="3027045"/>
                    <a:pt x="10067925" y="3108960"/>
                    <a:pt x="9966960" y="3108960"/>
                  </a:cubicBezTo>
                  <a:lnTo>
                    <a:pt x="182880" y="3108960"/>
                  </a:lnTo>
                  <a:cubicBezTo>
                    <a:pt x="81915" y="3108960"/>
                    <a:pt x="0" y="3027045"/>
                    <a:pt x="0" y="2926080"/>
                  </a:cubicBezTo>
                  <a:close/>
                </a:path>
              </a:pathLst>
            </a:custGeom>
            <a:solidFill>
              <a:srgbClr val="1B235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0" y="6542532"/>
            <a:ext cx="891540" cy="891540"/>
            <a:chOff x="0" y="0"/>
            <a:chExt cx="1188720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99269" y="6640601"/>
            <a:ext cx="695401" cy="695401"/>
            <a:chOff x="0" y="0"/>
            <a:chExt cx="927202" cy="927202"/>
          </a:xfrm>
        </p:grpSpPr>
        <p:sp>
          <p:nvSpPr>
            <p:cNvPr name="Freeform 30" id="30" descr="zap.png"/>
            <p:cNvSpPr/>
            <p:nvPr/>
          </p:nvSpPr>
          <p:spPr>
            <a:xfrm flipH="false" flipV="false" rot="0">
              <a:off x="0" y="0"/>
              <a:ext cx="927227" cy="927227"/>
            </a:xfrm>
            <a:custGeom>
              <a:avLst/>
              <a:gdLst/>
              <a:ahLst/>
              <a:cxnLst/>
              <a:rect r="r" b="b" t="t" l="l"/>
              <a:pathLst>
                <a:path h="927227" w="927227">
                  <a:moveTo>
                    <a:pt x="0" y="0"/>
                  </a:moveTo>
                  <a:lnTo>
                    <a:pt x="927227" y="0"/>
                  </a:lnTo>
                  <a:lnTo>
                    <a:pt x="927227" y="927227"/>
                  </a:lnTo>
                  <a:lnTo>
                    <a:pt x="0" y="927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767060" y="6515100"/>
            <a:ext cx="5760720" cy="548640"/>
            <a:chOff x="0" y="0"/>
            <a:chExt cx="768096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680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Consulta sem anúncios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67060" y="7091172"/>
            <a:ext cx="5760720" cy="1234440"/>
            <a:chOff x="0" y="0"/>
            <a:chExt cx="768096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80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768096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800">
                  <a:solidFill>
                    <a:srgbClr val="AAB8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Ideia 3 garante acesso rápido, na frente da publicidade.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34440" y="8846820"/>
            <a:ext cx="15773400" cy="685800"/>
            <a:chOff x="0" y="0"/>
            <a:chExt cx="210312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10312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 i="true">
                  <a:solidFill>
                    <a:srgbClr val="9FD3E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Por quê essa combinação? Ela une confiabilidade (comunidade) com velocidade de acesso (sem anúncios) — atacando as duas causas da dor ao mesmo tempo.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Etapa 4 — Ideação  ·  Proposta de melhorias para o Moovit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2344400" cy="960120"/>
            <a:chOff x="0" y="0"/>
            <a:chExt cx="164592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funciona, na prática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674620"/>
            <a:ext cx="3909060" cy="6309360"/>
            <a:chOff x="0" y="0"/>
            <a:chExt cx="5212080" cy="8412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120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8193024"/>
                  </a:lnTo>
                  <a:cubicBezTo>
                    <a:pt x="5212080" y="8314182"/>
                    <a:pt x="5113782" y="8412480"/>
                    <a:pt x="4992624" y="8412480"/>
                  </a:cubicBezTo>
                  <a:lnTo>
                    <a:pt x="219456" y="8412480"/>
                  </a:lnTo>
                  <a:cubicBezTo>
                    <a:pt x="98298" y="8412480"/>
                    <a:pt x="0" y="8314182"/>
                    <a:pt x="0" y="8193024"/>
                  </a:cubicBezTo>
                  <a:close/>
                </a:path>
              </a:pathLst>
            </a:custGeom>
            <a:solidFill>
              <a:srgbClr val="F7FAF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03020" y="3017520"/>
            <a:ext cx="1371600" cy="822960"/>
            <a:chOff x="0" y="0"/>
            <a:chExt cx="18288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828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BBD6E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3020" y="4046220"/>
            <a:ext cx="1028700" cy="1028700"/>
            <a:chOff x="0" y="0"/>
            <a:chExt cx="137160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16177" y="4159377"/>
            <a:ext cx="802386" cy="802386"/>
            <a:chOff x="0" y="0"/>
            <a:chExt cx="1069848" cy="1069848"/>
          </a:xfrm>
        </p:grpSpPr>
        <p:sp>
          <p:nvSpPr>
            <p:cNvPr name="Freeform 13" id="13" descr="clock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5349240"/>
            <a:ext cx="3223260" cy="1165860"/>
            <a:chOff x="0" y="0"/>
            <a:chExt cx="429768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9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0" r="0" b="-387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4297680" cy="1544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Usuário chega ao ponto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3020" y="6583680"/>
            <a:ext cx="3223260" cy="2194560"/>
            <a:chOff x="0" y="0"/>
            <a:chExt cx="429768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97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355" t="0" r="-37355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29768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 abre o Moovit para checar o horário da linha.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12080" y="2674620"/>
            <a:ext cx="3909060" cy="6309360"/>
            <a:chOff x="0" y="0"/>
            <a:chExt cx="5212080" cy="8412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20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8193024"/>
                  </a:lnTo>
                  <a:cubicBezTo>
                    <a:pt x="5212080" y="8314182"/>
                    <a:pt x="5113782" y="8412480"/>
                    <a:pt x="4992624" y="8412480"/>
                  </a:cubicBezTo>
                  <a:lnTo>
                    <a:pt x="219456" y="8412480"/>
                  </a:lnTo>
                  <a:cubicBezTo>
                    <a:pt x="98298" y="8412480"/>
                    <a:pt x="0" y="8314182"/>
                    <a:pt x="0" y="8193024"/>
                  </a:cubicBezTo>
                  <a:close/>
                </a:path>
              </a:pathLst>
            </a:custGeom>
            <a:solidFill>
              <a:srgbClr val="EAF3F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554980" y="3017520"/>
            <a:ext cx="1371600" cy="822960"/>
            <a:chOff x="0" y="0"/>
            <a:chExt cx="182880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828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BBD6E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554980" y="4046220"/>
            <a:ext cx="1028700" cy="1028700"/>
            <a:chOff x="0" y="0"/>
            <a:chExt cx="137160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668137" y="4159377"/>
            <a:ext cx="802386" cy="802386"/>
            <a:chOff x="0" y="0"/>
            <a:chExt cx="1069848" cy="1069848"/>
          </a:xfrm>
        </p:grpSpPr>
        <p:sp>
          <p:nvSpPr>
            <p:cNvPr name="Freeform 28" id="28" descr="message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554980" y="5349240"/>
            <a:ext cx="3223260" cy="1165860"/>
            <a:chOff x="0" y="0"/>
            <a:chExt cx="429768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9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0" r="0" b="-38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4297680" cy="1544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Reporta ou confirma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554980" y="6583680"/>
            <a:ext cx="3223260" cy="2194560"/>
            <a:chOff x="0" y="0"/>
            <a:chExt cx="4297680" cy="2926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97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355" t="0" r="-3735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429768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 um toque, se o transporte está no horário previsto.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64040" y="2674620"/>
            <a:ext cx="3909060" cy="6309360"/>
            <a:chOff x="0" y="0"/>
            <a:chExt cx="5212080" cy="8412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120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8193024"/>
                  </a:lnTo>
                  <a:cubicBezTo>
                    <a:pt x="5212080" y="8314182"/>
                    <a:pt x="5113782" y="8412480"/>
                    <a:pt x="4992624" y="8412480"/>
                  </a:cubicBezTo>
                  <a:lnTo>
                    <a:pt x="219456" y="8412480"/>
                  </a:lnTo>
                  <a:cubicBezTo>
                    <a:pt x="98298" y="8412480"/>
                    <a:pt x="0" y="8314182"/>
                    <a:pt x="0" y="8193024"/>
                  </a:cubicBezTo>
                  <a:close/>
                </a:path>
              </a:pathLst>
            </a:custGeom>
            <a:solidFill>
              <a:srgbClr val="F7FAF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06940" y="3017520"/>
            <a:ext cx="1371600" cy="822960"/>
            <a:chOff x="0" y="0"/>
            <a:chExt cx="182880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828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BBD6E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806940" y="4046220"/>
            <a:ext cx="1028700" cy="1028700"/>
            <a:chOff x="0" y="0"/>
            <a:chExt cx="1371600" cy="1371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920097" y="4159377"/>
            <a:ext cx="802386" cy="802386"/>
            <a:chOff x="0" y="0"/>
            <a:chExt cx="1069848" cy="1069848"/>
          </a:xfrm>
        </p:grpSpPr>
        <p:sp>
          <p:nvSpPr>
            <p:cNvPr name="Freeform 43" id="43" descr="check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06940" y="5349240"/>
            <a:ext cx="3223260" cy="1165860"/>
            <a:chOff x="0" y="0"/>
            <a:chExt cx="429768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9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0" r="0" b="-387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4297680" cy="1544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comunidade valida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806940" y="6583680"/>
            <a:ext cx="3223260" cy="2194560"/>
            <a:chOff x="0" y="0"/>
            <a:chExt cx="4297680" cy="2926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97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355" t="0" r="-37355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429768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os reportes recentes se somam e formam um horário confiável.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16000" y="2674620"/>
            <a:ext cx="3909060" cy="6309360"/>
            <a:chOff x="0" y="0"/>
            <a:chExt cx="5212080" cy="8412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120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8193024"/>
                  </a:lnTo>
                  <a:cubicBezTo>
                    <a:pt x="5212080" y="8314182"/>
                    <a:pt x="5113782" y="8412480"/>
                    <a:pt x="4992624" y="8412480"/>
                  </a:cubicBezTo>
                  <a:lnTo>
                    <a:pt x="219456" y="8412480"/>
                  </a:lnTo>
                  <a:cubicBezTo>
                    <a:pt x="98298" y="8412480"/>
                    <a:pt x="0" y="8314182"/>
                    <a:pt x="0" y="8193024"/>
                  </a:cubicBezTo>
                  <a:close/>
                </a:path>
              </a:pathLst>
            </a:custGeom>
            <a:solidFill>
              <a:srgbClr val="EAF3F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058900" y="3017520"/>
            <a:ext cx="1371600" cy="822960"/>
            <a:chOff x="0" y="0"/>
            <a:chExt cx="182880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28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828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BBD6E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058900" y="4046220"/>
            <a:ext cx="1028700" cy="1028700"/>
            <a:chOff x="0" y="0"/>
            <a:chExt cx="1371600" cy="1371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172057" y="4159377"/>
            <a:ext cx="802386" cy="802386"/>
            <a:chOff x="0" y="0"/>
            <a:chExt cx="1069848" cy="1069848"/>
          </a:xfrm>
        </p:grpSpPr>
        <p:sp>
          <p:nvSpPr>
            <p:cNvPr name="Freeform 58" id="58" descr="zap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058900" y="5349240"/>
            <a:ext cx="3223260" cy="1165860"/>
            <a:chOff x="0" y="0"/>
            <a:chExt cx="4297680" cy="15544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29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0" r="0" b="-387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4297680" cy="1544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Informação aparece limpa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058900" y="6583680"/>
            <a:ext cx="3223260" cy="2194560"/>
            <a:chOff x="0" y="0"/>
            <a:chExt cx="4297680" cy="2926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97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355" t="0" r="-37355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429768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 destaque, antes de qualquer anúncio na tela.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Etapa 4 — Ideação  ·  Proposta de melhorias para o Moovit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2344400" cy="960120"/>
            <a:chOff x="0" y="0"/>
            <a:chExt cx="164592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Por que isso importa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331720"/>
            <a:ext cx="7680960" cy="2811780"/>
            <a:chOff x="0" y="0"/>
            <a:chExt cx="10241280" cy="3749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3749040"/>
            </a:xfrm>
            <a:custGeom>
              <a:avLst/>
              <a:gdLst/>
              <a:ahLst/>
              <a:cxnLst/>
              <a:rect r="r" b="b" t="t" l="l"/>
              <a:pathLst>
                <a:path h="374904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3566160"/>
                  </a:lnTo>
                  <a:cubicBezTo>
                    <a:pt x="10241280" y="3667125"/>
                    <a:pt x="10159365" y="3749040"/>
                    <a:pt x="1005840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71600" y="3223260"/>
            <a:ext cx="1028700" cy="1028700"/>
            <a:chOff x="0" y="0"/>
            <a:chExt cx="13716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84757" y="3336417"/>
            <a:ext cx="802386" cy="802386"/>
            <a:chOff x="0" y="0"/>
            <a:chExt cx="1069848" cy="1069848"/>
          </a:xfrm>
        </p:grpSpPr>
        <p:sp>
          <p:nvSpPr>
            <p:cNvPr name="Freeform 10" id="10" descr="check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74620" y="2715768"/>
            <a:ext cx="5554980" cy="685800"/>
            <a:chOff x="0" y="0"/>
            <a:chExt cx="740664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06640" cy="914400"/>
            </a:xfrm>
            <a:custGeom>
              <a:avLst/>
              <a:gdLst/>
              <a:ahLst/>
              <a:cxnLst/>
              <a:rect r="r" b="b" t="t" l="l"/>
              <a:pathLst>
                <a:path h="9144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828" r="0" b="-10782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7406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Mais confiabilidade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674620" y="3401568"/>
            <a:ext cx="5554980" cy="1508760"/>
            <a:chOff x="0" y="0"/>
            <a:chExt cx="7406640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066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40" r="0" b="-217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740664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horário exibido reflete o que a comunidade está vendo agora, não uma tabela estática.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26880" y="2331720"/>
            <a:ext cx="7680960" cy="2811780"/>
            <a:chOff x="0" y="0"/>
            <a:chExt cx="10241280" cy="3749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3749040"/>
            </a:xfrm>
            <a:custGeom>
              <a:avLst/>
              <a:gdLst/>
              <a:ahLst/>
              <a:cxnLst/>
              <a:rect r="r" b="b" t="t" l="l"/>
              <a:pathLst>
                <a:path h="374904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3566160"/>
                  </a:lnTo>
                  <a:cubicBezTo>
                    <a:pt x="10241280" y="3667125"/>
                    <a:pt x="10159365" y="3749040"/>
                    <a:pt x="1005840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38360" y="3223260"/>
            <a:ext cx="1028700" cy="1028700"/>
            <a:chOff x="0" y="0"/>
            <a:chExt cx="137160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51517" y="3336417"/>
            <a:ext cx="802386" cy="802386"/>
            <a:chOff x="0" y="0"/>
            <a:chExt cx="1069848" cy="1069848"/>
          </a:xfrm>
        </p:grpSpPr>
        <p:sp>
          <p:nvSpPr>
            <p:cNvPr name="Freeform 22" id="22" descr="zap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041380" y="2715768"/>
            <a:ext cx="5554980" cy="685800"/>
            <a:chOff x="0" y="0"/>
            <a:chExt cx="740664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06640" cy="914400"/>
            </a:xfrm>
            <a:custGeom>
              <a:avLst/>
              <a:gdLst/>
              <a:ahLst/>
              <a:cxnLst/>
              <a:rect r="r" b="b" t="t" l="l"/>
              <a:pathLst>
                <a:path h="9144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828" r="0" b="-10782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7406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Menos tempo perdido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41380" y="3401568"/>
            <a:ext cx="5554980" cy="1508760"/>
            <a:chOff x="0" y="0"/>
            <a:chExt cx="7406640" cy="2011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066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40" r="0" b="-217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740664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informação essencial aparece antes dos anúncios — sem navegação extra.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120" y="5692140"/>
            <a:ext cx="7680960" cy="2811780"/>
            <a:chOff x="0" y="0"/>
            <a:chExt cx="10241280" cy="3749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3749040"/>
            </a:xfrm>
            <a:custGeom>
              <a:avLst/>
              <a:gdLst/>
              <a:ahLst/>
              <a:cxnLst/>
              <a:rect r="r" b="b" t="t" l="l"/>
              <a:pathLst>
                <a:path h="374904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3566160"/>
                  </a:lnTo>
                  <a:cubicBezTo>
                    <a:pt x="10241280" y="3667125"/>
                    <a:pt x="10159365" y="3749040"/>
                    <a:pt x="1005840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71600" y="6583680"/>
            <a:ext cx="1028700" cy="1028700"/>
            <a:chOff x="0" y="0"/>
            <a:chExt cx="1371600" cy="1371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84757" y="6696837"/>
            <a:ext cx="802386" cy="802386"/>
            <a:chOff x="0" y="0"/>
            <a:chExt cx="1069848" cy="1069848"/>
          </a:xfrm>
        </p:grpSpPr>
        <p:sp>
          <p:nvSpPr>
            <p:cNvPr name="Freeform 34" id="34" descr="users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674620" y="6076188"/>
            <a:ext cx="5554980" cy="685800"/>
            <a:chOff x="0" y="0"/>
            <a:chExt cx="740664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06640" cy="914400"/>
            </a:xfrm>
            <a:custGeom>
              <a:avLst/>
              <a:gdLst/>
              <a:ahLst/>
              <a:cxnLst/>
              <a:rect r="r" b="b" t="t" l="l"/>
              <a:pathLst>
                <a:path h="9144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828" r="0" b="-10782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7406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Comunidade engajada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674620" y="6761988"/>
            <a:ext cx="5554980" cy="1508760"/>
            <a:chOff x="0" y="0"/>
            <a:chExt cx="7406640" cy="2011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066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40" r="0" b="-217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740664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 reporte fortalece a confiança de quem usa o app depois de você.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26880" y="5692140"/>
            <a:ext cx="7680960" cy="2811780"/>
            <a:chOff x="0" y="0"/>
            <a:chExt cx="10241280" cy="3749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3749040"/>
            </a:xfrm>
            <a:custGeom>
              <a:avLst/>
              <a:gdLst/>
              <a:ahLst/>
              <a:cxnLst/>
              <a:rect r="r" b="b" t="t" l="l"/>
              <a:pathLst>
                <a:path h="374904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3566160"/>
                  </a:lnTo>
                  <a:cubicBezTo>
                    <a:pt x="10241280" y="3667125"/>
                    <a:pt x="10159365" y="3749040"/>
                    <a:pt x="1005840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738360" y="6583680"/>
            <a:ext cx="1028700" cy="1028700"/>
            <a:chOff x="0" y="0"/>
            <a:chExt cx="1371600" cy="1371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851517" y="6696837"/>
            <a:ext cx="802386" cy="802386"/>
            <a:chOff x="0" y="0"/>
            <a:chExt cx="1069848" cy="1069848"/>
          </a:xfrm>
        </p:grpSpPr>
        <p:sp>
          <p:nvSpPr>
            <p:cNvPr name="Freeform 46" id="46" descr="star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041380" y="6076188"/>
            <a:ext cx="5554980" cy="685800"/>
            <a:chOff x="0" y="0"/>
            <a:chExt cx="74066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406640" cy="914400"/>
            </a:xfrm>
            <a:custGeom>
              <a:avLst/>
              <a:gdLst/>
              <a:ahLst/>
              <a:cxnLst/>
              <a:rect r="r" b="b" t="t" l="l"/>
              <a:pathLst>
                <a:path h="9144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828" r="0" b="-10782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74066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Experiência percebida melhor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041380" y="6761988"/>
            <a:ext cx="5554980" cy="1508760"/>
            <a:chOff x="0" y="0"/>
            <a:chExt cx="7406640" cy="2011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4066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40" r="0" b="-217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7406640" cy="2078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Reduz a frustração de perder o transporte por informação desatualizada.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Etapa 4 — Ideação  ·  Proposta de melhorias para o Moovit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2344400" cy="960120"/>
            <a:chOff x="0" y="0"/>
            <a:chExt cx="164592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Riscos e próximos passos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331720"/>
            <a:ext cx="7818120" cy="6858000"/>
            <a:chOff x="0" y="0"/>
            <a:chExt cx="10424160" cy="914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24161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4241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04704" y="0"/>
                  </a:lnTo>
                  <a:cubicBezTo>
                    <a:pt x="10325862" y="0"/>
                    <a:pt x="10424161" y="98298"/>
                    <a:pt x="10424161" y="219456"/>
                  </a:cubicBezTo>
                  <a:lnTo>
                    <a:pt x="10424161" y="8924544"/>
                  </a:lnTo>
                  <a:cubicBezTo>
                    <a:pt x="10424161" y="9045701"/>
                    <a:pt x="10325862" y="9144000"/>
                    <a:pt x="10204704" y="9144000"/>
                  </a:cubicBezTo>
                  <a:lnTo>
                    <a:pt x="219456" y="9144000"/>
                  </a:lnTo>
                  <a:cubicBezTo>
                    <a:pt x="98298" y="9144000"/>
                    <a:pt x="0" y="9045702"/>
                    <a:pt x="0" y="8924544"/>
                  </a:cubicBezTo>
                  <a:close/>
                </a:path>
              </a:pathLst>
            </a:custGeom>
            <a:solidFill>
              <a:srgbClr val="FFF6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08760" y="2811780"/>
            <a:ext cx="1028700" cy="1028700"/>
            <a:chOff x="0" y="0"/>
            <a:chExt cx="13716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21917" y="2924937"/>
            <a:ext cx="802386" cy="802386"/>
            <a:chOff x="0" y="0"/>
            <a:chExt cx="1069848" cy="1069848"/>
          </a:xfrm>
        </p:grpSpPr>
        <p:sp>
          <p:nvSpPr>
            <p:cNvPr name="Freeform 10" id="10" descr="wifioff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08760" y="4114800"/>
            <a:ext cx="6720840" cy="685800"/>
            <a:chOff x="0" y="0"/>
            <a:chExt cx="896112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61120" cy="914400"/>
            </a:xfrm>
            <a:custGeom>
              <a:avLst/>
              <a:gdLst/>
              <a:ahLst/>
              <a:cxnLst/>
              <a:rect r="r" b="b" t="t" l="l"/>
              <a:pathLst>
                <a:path h="91440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3" r="0" b="-14095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89611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Limitações a monitorar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8760" y="4937760"/>
            <a:ext cx="6720840" cy="3840480"/>
            <a:chOff x="0" y="0"/>
            <a:chExt cx="8961120" cy="5120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61120" cy="5120640"/>
            </a:xfrm>
            <a:custGeom>
              <a:avLst/>
              <a:gdLst/>
              <a:ahLst/>
              <a:cxnLst/>
              <a:rect r="r" b="b" t="t" l="l"/>
              <a:pathLst>
                <a:path h="51206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8961120" cy="5206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999"/>
                </a:lnSpc>
                <a:buFont typeface="Arial"/>
                <a:buChar char="•"/>
              </a:pPr>
              <a:r>
                <a:rPr lang="en-US" sz="202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Reportes incorretos ou mal-intencionados de usuários</a:t>
              </a:r>
            </a:p>
            <a:p>
              <a:pPr algn="l" marL="366474" indent="-183237" lvl="1">
                <a:lnSpc>
                  <a:spcPts val="2999"/>
                </a:lnSpc>
                <a:buFont typeface="Arial"/>
                <a:buChar char="•"/>
              </a:pPr>
              <a:r>
                <a:rPr lang="en-US" sz="202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Baixa adesão inicial da comunidade em linhas menos usadas</a:t>
              </a:r>
            </a:p>
            <a:p>
              <a:pPr algn="l" marL="366474" indent="-183237" lvl="1">
                <a:lnSpc>
                  <a:spcPts val="2999"/>
                </a:lnSpc>
                <a:buFont typeface="Arial"/>
                <a:buChar char="•"/>
              </a:pPr>
              <a:r>
                <a:rPr lang="en-US" sz="2025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Necessidade de moderar/ponderar reportes por confiabilidade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64040" y="2331720"/>
            <a:ext cx="7818120" cy="6858000"/>
            <a:chOff x="0" y="0"/>
            <a:chExt cx="10424160" cy="914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24161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4241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204704" y="0"/>
                  </a:lnTo>
                  <a:cubicBezTo>
                    <a:pt x="10325862" y="0"/>
                    <a:pt x="10424161" y="98298"/>
                    <a:pt x="10424161" y="219456"/>
                  </a:cubicBezTo>
                  <a:lnTo>
                    <a:pt x="10424161" y="8924544"/>
                  </a:lnTo>
                  <a:cubicBezTo>
                    <a:pt x="10424161" y="9045701"/>
                    <a:pt x="10325862" y="9144000"/>
                    <a:pt x="10204704" y="9144000"/>
                  </a:cubicBezTo>
                  <a:lnTo>
                    <a:pt x="219456" y="9144000"/>
                  </a:lnTo>
                  <a:cubicBezTo>
                    <a:pt x="98298" y="9144000"/>
                    <a:pt x="0" y="9045702"/>
                    <a:pt x="0" y="8924544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012680" y="2811780"/>
            <a:ext cx="1028700" cy="1028700"/>
            <a:chOff x="0" y="0"/>
            <a:chExt cx="137160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125837" y="2924937"/>
            <a:ext cx="802386" cy="802386"/>
            <a:chOff x="0" y="0"/>
            <a:chExt cx="1069848" cy="1069848"/>
          </a:xfrm>
        </p:grpSpPr>
        <p:sp>
          <p:nvSpPr>
            <p:cNvPr name="Freeform 22" id="22" descr="check.png"/>
            <p:cNvSpPr/>
            <p:nvPr/>
          </p:nvSpPr>
          <p:spPr>
            <a:xfrm flipH="false" flipV="false" rot="0">
              <a:off x="0" y="0"/>
              <a:ext cx="1069848" cy="1069848"/>
            </a:xfrm>
            <a:custGeom>
              <a:avLst/>
              <a:gdLst/>
              <a:ahLst/>
              <a:cxnLst/>
              <a:rect r="r" b="b" t="t" l="l"/>
              <a:pathLst>
                <a:path h="1069848" w="1069848">
                  <a:moveTo>
                    <a:pt x="0" y="0"/>
                  </a:moveTo>
                  <a:lnTo>
                    <a:pt x="1069848" y="0"/>
                  </a:lnTo>
                  <a:lnTo>
                    <a:pt x="1069848" y="1069848"/>
                  </a:lnTo>
                  <a:lnTo>
                    <a:pt x="0" y="1069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12680" y="4114800"/>
            <a:ext cx="6720840" cy="685800"/>
            <a:chOff x="0" y="0"/>
            <a:chExt cx="896112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61120" cy="914400"/>
            </a:xfrm>
            <a:custGeom>
              <a:avLst/>
              <a:gdLst/>
              <a:ahLst/>
              <a:cxnLst/>
              <a:rect r="r" b="b" t="t" l="l"/>
              <a:pathLst>
                <a:path h="91440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3" r="0" b="-14095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9611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Próximos passos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12680" y="4937760"/>
            <a:ext cx="6720840" cy="3840480"/>
            <a:chOff x="0" y="0"/>
            <a:chExt cx="8961120" cy="5120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61120" cy="5120640"/>
            </a:xfrm>
            <a:custGeom>
              <a:avLst/>
              <a:gdLst/>
              <a:ahLst/>
              <a:cxnLst/>
              <a:rect r="r" b="b" t="t" l="l"/>
              <a:pathLst>
                <a:path h="51206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8961120" cy="5206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999"/>
                </a:lnSpc>
                <a:buFont typeface="Arial"/>
                <a:buChar char="•"/>
              </a:pPr>
              <a:r>
                <a:rPr lang="en-US" sz="2025">
                  <a:solidFill>
                    <a:srgbClr val="E8F1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Prototipar o fluxo de reporte com 1 toque</a:t>
              </a:r>
            </a:p>
            <a:p>
              <a:pPr algn="l" marL="366474" indent="-183237" lvl="1">
                <a:lnSpc>
                  <a:spcPts val="2999"/>
                </a:lnSpc>
                <a:buFont typeface="Arial"/>
                <a:buChar char="•"/>
              </a:pPr>
              <a:r>
                <a:rPr lang="en-US" sz="2025">
                  <a:solidFill>
                    <a:srgbClr val="E8F1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Testar a exibição "limpa" do horário com usuários reais</a:t>
              </a:r>
            </a:p>
            <a:p>
              <a:pPr algn="l" marL="366474" indent="-183237" lvl="1">
                <a:lnSpc>
                  <a:spcPts val="2999"/>
                </a:lnSpc>
                <a:buFont typeface="Arial"/>
                <a:buChar char="•"/>
              </a:pPr>
              <a:r>
                <a:rPr lang="en-US" sz="2025">
                  <a:solidFill>
                    <a:srgbClr val="E8F1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Validar regras de confiabilidade dos reportes</a:t>
              </a:r>
            </a:p>
            <a:p>
              <a:pPr algn="l" marL="366474" indent="-183237" lvl="1">
                <a:lnSpc>
                  <a:spcPts val="2999"/>
                </a:lnSpc>
                <a:buFont typeface="Arial"/>
                <a:buChar char="•"/>
              </a:pPr>
              <a:r>
                <a:rPr lang="en-US" sz="2025">
                  <a:solidFill>
                    <a:srgbClr val="E8F1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Medir impacto na percepção de confiança do app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Etapa 4 — Ideação  ·  Proposta de melhorias para o Moovit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11700" y="1732106"/>
            <a:ext cx="6346398" cy="7031209"/>
            <a:chOff x="0" y="0"/>
            <a:chExt cx="8461864" cy="937494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61864" cy="9374946"/>
              <a:chOff x="0" y="0"/>
              <a:chExt cx="1671479" cy="185184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671479" cy="1851841"/>
              </a:xfrm>
              <a:custGeom>
                <a:avLst/>
                <a:gdLst/>
                <a:ahLst/>
                <a:cxnLst/>
                <a:rect r="r" b="b" t="t" l="l"/>
                <a:pathLst>
                  <a:path h="1851841" w="1671479">
                    <a:moveTo>
                      <a:pt x="60995" y="0"/>
                    </a:moveTo>
                    <a:lnTo>
                      <a:pt x="1610485" y="0"/>
                    </a:lnTo>
                    <a:cubicBezTo>
                      <a:pt x="1644171" y="0"/>
                      <a:pt x="1671479" y="27308"/>
                      <a:pt x="1671479" y="60995"/>
                    </a:cubicBezTo>
                    <a:lnTo>
                      <a:pt x="1671479" y="1790847"/>
                    </a:lnTo>
                    <a:cubicBezTo>
                      <a:pt x="1671479" y="1824533"/>
                      <a:pt x="1644171" y="1851841"/>
                      <a:pt x="1610485" y="1851841"/>
                    </a:cubicBezTo>
                    <a:lnTo>
                      <a:pt x="60995" y="1851841"/>
                    </a:lnTo>
                    <a:cubicBezTo>
                      <a:pt x="27308" y="1851841"/>
                      <a:pt x="0" y="1824533"/>
                      <a:pt x="0" y="1790847"/>
                    </a:cubicBezTo>
                    <a:lnTo>
                      <a:pt x="0" y="60995"/>
                    </a:lnTo>
                    <a:cubicBezTo>
                      <a:pt x="0" y="27308"/>
                      <a:pt x="27308" y="0"/>
                      <a:pt x="60995" y="0"/>
                    </a:cubicBezTo>
                    <a:close/>
                  </a:path>
                </a:pathLst>
              </a:custGeom>
              <a:solidFill>
                <a:srgbClr val="1C7293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1671479" cy="18613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724026" y="1109929"/>
              <a:ext cx="7013811" cy="7552080"/>
            </a:xfrm>
            <a:custGeom>
              <a:avLst/>
              <a:gdLst/>
              <a:ahLst/>
              <a:cxnLst/>
              <a:rect r="r" b="b" t="t" l="l"/>
              <a:pathLst>
                <a:path h="7552080" w="7013811">
                  <a:moveTo>
                    <a:pt x="0" y="0"/>
                  </a:moveTo>
                  <a:lnTo>
                    <a:pt x="7013811" y="0"/>
                  </a:lnTo>
                  <a:lnTo>
                    <a:pt x="7013811" y="7552080"/>
                  </a:lnTo>
                  <a:lnTo>
                    <a:pt x="0" y="7552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89778" y="708356"/>
            <a:ext cx="7647592" cy="5463844"/>
            <a:chOff x="0" y="0"/>
            <a:chExt cx="10196789" cy="72851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196789" cy="4698444"/>
              <a:chOff x="0" y="0"/>
              <a:chExt cx="10196789" cy="469844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196788" cy="4698445"/>
              </a:xfrm>
              <a:custGeom>
                <a:avLst/>
                <a:gdLst/>
                <a:ahLst/>
                <a:cxnLst/>
                <a:rect r="r" b="b" t="t" l="l"/>
                <a:pathLst>
                  <a:path h="4698445" w="10196788">
                    <a:moveTo>
                      <a:pt x="0" y="0"/>
                    </a:moveTo>
                    <a:lnTo>
                      <a:pt x="10196788" y="0"/>
                    </a:lnTo>
                    <a:lnTo>
                      <a:pt x="10196788" y="4698445"/>
                    </a:lnTo>
                    <a:lnTo>
                      <a:pt x="0" y="469844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864" r="-48860" b="3965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10196789" cy="46793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400"/>
                  </a:lnSpc>
                </a:pPr>
                <a:r>
                  <a:rPr lang="en-US" sz="4800" b="true">
                    <a:solidFill>
                      <a:srgbClr val="FFFFF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Wireframe da Solução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58797" y="2111764"/>
              <a:ext cx="6722594" cy="5173361"/>
              <a:chOff x="0" y="0"/>
              <a:chExt cx="4251972" cy="327209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251972" cy="3272098"/>
              </a:xfrm>
              <a:custGeom>
                <a:avLst/>
                <a:gdLst/>
                <a:ahLst/>
                <a:cxnLst/>
                <a:rect r="r" b="b" t="t" l="l"/>
                <a:pathLst>
                  <a:path h="3272098" w="4251972">
                    <a:moveTo>
                      <a:pt x="0" y="0"/>
                    </a:moveTo>
                    <a:lnTo>
                      <a:pt x="4251972" y="0"/>
                    </a:lnTo>
                    <a:lnTo>
                      <a:pt x="4251972" y="3272098"/>
                    </a:lnTo>
                    <a:lnTo>
                      <a:pt x="0" y="327209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2026" r="-226880" b="-13506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14300"/>
                <a:ext cx="4251972" cy="338639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849"/>
                  </a:lnSpc>
                </a:pPr>
                <a:r>
                  <a:rPr lang="en-US" sz="2749">
                    <a:solidFill>
                      <a:srgbClr val="C9D6E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Um jeito simples rápido para a visualização das rotas, opção de visualização sem anúncio e facilidade para reportar o status do ônibus.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-2057400" y="6172200"/>
            <a:ext cx="8229600" cy="8229600"/>
            <a:chOff x="0" y="0"/>
            <a:chExt cx="10972800" cy="1097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65A82">
                <a:alpha val="15686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293421" y="8763315"/>
            <a:ext cx="4114800" cy="4114800"/>
            <a:chOff x="0" y="0"/>
            <a:chExt cx="5486400" cy="548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2743200"/>
                  </a:moveTo>
                  <a:cubicBezTo>
                    <a:pt x="0" y="1228217"/>
                    <a:pt x="1228217" y="0"/>
                    <a:pt x="2743200" y="0"/>
                  </a:cubicBezTo>
                  <a:cubicBezTo>
                    <a:pt x="4258183" y="0"/>
                    <a:pt x="5486400" y="1228217"/>
                    <a:pt x="5486400" y="2743200"/>
                  </a:cubicBezTo>
                  <a:cubicBezTo>
                    <a:pt x="5486400" y="4258183"/>
                    <a:pt x="4258183" y="5486400"/>
                    <a:pt x="2743200" y="5486400"/>
                  </a:cubicBezTo>
                  <a:cubicBezTo>
                    <a:pt x="1228217" y="5486400"/>
                    <a:pt x="0" y="4258183"/>
                    <a:pt x="0" y="2743200"/>
                  </a:cubicBezTo>
                  <a:close/>
                </a:path>
              </a:pathLst>
            </a:custGeom>
            <a:solidFill>
              <a:srgbClr val="1C7293">
                <a:alpha val="30196"/>
              </a:srgbClr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41680" y="-20574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3566160"/>
            <a:ext cx="13716000" cy="2606040"/>
            <a:chOff x="0" y="0"/>
            <a:chExt cx="18288000" cy="3474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8288000" cy="3427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99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Confiar no horário.</a:t>
              </a:r>
            </a:p>
            <a:p>
              <a:pPr algn="l">
                <a:lnSpc>
                  <a:spcPts val="6299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Não perder o transporte.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6240780"/>
            <a:ext cx="11384280" cy="1508760"/>
            <a:chOff x="0" y="0"/>
            <a:chExt cx="15179040" cy="20116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179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023" r="0" b="-9702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517904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C9D6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Uma mudança simples de priorizar — comunidade + clareza visual — que ataca diretamente a dor de quem depende do transporte público todos os dias.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Etapa 4 — Ideação  ·  Proposta de melhorias para o Moovit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DAHVQ00lC3k</dc:identifier>
  <dcterms:modified xsi:type="dcterms:W3CDTF">2011-08-01T06:04:30Z</dcterms:modified>
  <cp:revision>1</cp:revision>
  <dc:title>moovit_pitch.pptx</dc:title>
</cp:coreProperties>
</file>